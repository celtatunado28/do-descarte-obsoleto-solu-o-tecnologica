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8F1D25-59E6-441C-9B0D-D2A297352A43}" v="1" dt="2026-10-11T16:59:33.9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58" d="100"/>
          <a:sy n="58" d="100"/>
        </p:scale>
        <p:origin x="86" y="93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a Alves" userId="2fc86b4ecde2db1a" providerId="LiveId" clId="{FEDBF883-947B-4281-841E-9875F14104DA}"/>
    <pc:docChg chg="modSld">
      <pc:chgData name="Julia Alves" userId="2fc86b4ecde2db1a" providerId="LiveId" clId="{FEDBF883-947B-4281-841E-9875F14104DA}" dt="2026-10-11T16:59:33.911" v="0"/>
      <pc:docMkLst>
        <pc:docMk/>
      </pc:docMkLst>
      <pc:sldChg chg="modCm">
        <pc:chgData name="Julia Alves" userId="2fc86b4ecde2db1a" providerId="LiveId" clId="{FEDBF883-947B-4281-841E-9875F14104DA}" dt="2026-10-11T16:59:33.911" v="0"/>
        <pc:sldMkLst>
          <pc:docMk/>
          <pc:sldMk cId="2149392476" sldId="263"/>
        </pc:sldMkLst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10/10/2026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10/10/2026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10/10/2026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10/10/2026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10/10/2026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10/10/2026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10/10/2026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roceedings.blucher.com.br/article-details/design-sustentavel-e-ressignificacao-do-lixo-eletronico-praticas-de-reciclagem-e-reuso-no-contexto-academico" TargetMode="External"/><Relationship Id="rId7" Type="http://schemas.openxmlformats.org/officeDocument/2006/relationships/comments" Target="../comments/comment7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www.atlantis-press.com/proceedings/icesus-25/126020681" TargetMode="External"/><Relationship Id="rId4" Type="http://schemas.openxmlformats.org/officeDocument/2006/relationships/hyperlink" Target="https://ph.pollub.pl/index.php/preko/en/article/view/6976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996" y="2448329"/>
            <a:ext cx="4555067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sz="3200" b="1" i="0" dirty="0">
                <a:solidFill>
                  <a:schemeClr val="accent1">
                    <a:lumMod val="50000"/>
                  </a:schemeClr>
                </a:solidFill>
                <a:effectLst/>
                <a:latin typeface="-apple-system-body"/>
              </a:rPr>
              <a:t>RESÍDUOS ELETRÔNICOS</a:t>
            </a:r>
            <a:br>
              <a:rPr lang="pt-BR" sz="3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pt-BR" sz="3200" b="1" i="0" dirty="0">
                <a:solidFill>
                  <a:schemeClr val="accent1">
                    <a:lumMod val="50000"/>
                  </a:schemeClr>
                </a:solidFill>
                <a:effectLst/>
                <a:latin typeface="-apple-system-body"/>
              </a:rPr>
              <a:t>REAPROVEITAMENTO</a:t>
            </a:r>
            <a:br>
              <a:rPr lang="pt-BR" sz="3200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pt-BR" sz="3200" b="1" i="0" dirty="0">
                <a:solidFill>
                  <a:schemeClr val="accent1">
                    <a:lumMod val="50000"/>
                  </a:schemeClr>
                </a:solidFill>
                <a:effectLst/>
                <a:latin typeface="-apple-system-body"/>
              </a:rPr>
              <a:t>SUSTENTABILIDADE</a:t>
            </a:r>
            <a:endParaRPr lang="pt-BR" altLang="pt-BR" sz="3000" b="1" dirty="0">
              <a:solidFill>
                <a:schemeClr val="accent1">
                  <a:lumMod val="50000"/>
                </a:schemeClr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22925" cy="2400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Isabella Luiza</a:t>
            </a: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Julia Alves </a:t>
            </a:r>
            <a:r>
              <a:rPr lang="pt-BR" altLang="pt-BR" sz="1200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Kiura</a:t>
            </a: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Isabella </a:t>
            </a:r>
            <a:r>
              <a:rPr lang="pt-BR" altLang="pt-BR" sz="1200" dirty="0">
                <a:solidFill>
                  <a:schemeClr val="accent1">
                    <a:lumMod val="50000"/>
                  </a:schemeClr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Cristina</a:t>
            </a: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</a:t>
            </a:r>
            <a:r>
              <a:rPr lang="pt-BR" sz="1200" b="0" i="0" dirty="0">
                <a:solidFill>
                  <a:schemeClr val="accent1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Nascimento da Cruz Silva</a:t>
            </a:r>
            <a:endParaRPr lang="pt-BR" altLang="pt-BR" sz="1200" dirty="0">
              <a:solidFill>
                <a:schemeClr val="accent1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r>
              <a:rPr lang="pt-BR" sz="1200" b="0" i="0" dirty="0">
                <a:solidFill>
                  <a:schemeClr val="accent1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João Victor Sales da Silva</a:t>
            </a:r>
            <a:br>
              <a:rPr lang="pt-BR" sz="1200" b="0" i="0" dirty="0">
                <a:solidFill>
                  <a:schemeClr val="accent1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br>
              <a:rPr lang="pt-BR" altLang="pt-BR" sz="1200" dirty="0">
                <a:solidFill>
                  <a:schemeClr val="accent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pt-BR" sz="1200" b="0" i="0" dirty="0">
                <a:solidFill>
                  <a:schemeClr val="accent1">
                    <a:lumMod val="50000"/>
                  </a:schemeClr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Lionel Gonçalves Dantas</a:t>
            </a:r>
            <a:b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Ciência da Computação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058400" y="5254109"/>
            <a:ext cx="14065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-39255" y="-16123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8595AC-D3AB-4F2C-AF5C-59D3706A40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31988"/>
            <a:ext cx="6309804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PROBLEMÁTICA</a:t>
            </a:r>
            <a:br>
              <a:rPr kumimoji="0" lang="pt-BR" altLang="pt-BR" sz="1400" b="1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endParaRPr kumimoji="0" lang="pt-BR" altLang="pt-BR" sz="1400" b="1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✓ Crescimento do descarte de resíduos eletrônicos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✓ Obsolescência programada e redução da vida útil dos dispositivos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✓ Impactos ambientais causados pelo descarte inadequado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✓ Desperdício de componentes eletrônicos reutilizáveis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endParaRPr kumimoji="0" lang="pt-BR" altLang="pt-BR" sz="1400" b="1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JUSTIFICATIVA</a:t>
            </a:r>
            <a:br>
              <a:rPr kumimoji="0" lang="pt-BR" altLang="pt-BR" sz="1400" b="1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endParaRPr kumimoji="0" lang="pt-BR" altLang="pt-BR" sz="1400" b="1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✓ Reaproveitamento de componentes eletrônicos descartados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✓ Criação de 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cyberdecks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como alternativa sustentável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✓ Redução dos impactos ambientais e do desperdício eletrônico</a:t>
            </a:r>
            <a:br>
              <a:rPr kumimoji="0" lang="pt-BR" altLang="pt-BR" sz="14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kumimoji="0" lang="pt-BR" altLang="pt-BR" sz="14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✓ Promoção da TI Verde e da consciência ambiental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D84041C-38AC-43A6-8BFE-B5314CCBD6FD}"/>
              </a:ext>
            </a:extLst>
          </p:cNvPr>
          <p:cNvSpPr txBox="1"/>
          <p:nvPr/>
        </p:nvSpPr>
        <p:spPr>
          <a:xfrm>
            <a:off x="506410" y="1644940"/>
            <a:ext cx="6467045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OBJETIVO GERAL</a:t>
            </a:r>
            <a:br>
              <a:rPr kumimoji="0" lang="pt-BR" altLang="pt-BR" sz="1400" b="1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endParaRPr kumimoji="0" lang="pt-BR" altLang="pt-BR" sz="1400" b="1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✓ Analisar as possibilidades de reutilização de resíduos eletrônicos na criação de ferramentas tecnológicas, com destaque para os </a:t>
            </a:r>
            <a:r>
              <a:rPr kumimoji="0" lang="pt-BR" altLang="pt-BR" sz="1400" i="0" u="none" strike="noStrike" cap="none" normalizeH="0" baseline="0" dirty="0" err="1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cyberdecks</a:t>
            </a:r>
            <a:endParaRPr kumimoji="0" lang="pt-BR" altLang="pt-BR" sz="140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40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OBJETIVOS ESPECÍFICOS</a:t>
            </a:r>
            <a:br>
              <a:rPr kumimoji="0" lang="pt-BR" altLang="pt-BR" sz="1400" b="1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endParaRPr kumimoji="0" lang="pt-BR" altLang="pt-BR" sz="1400" b="1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✓ Identificar os impactos ambientais associados à geração e ao descarte inadequado de resíduos eletrônicos</a:t>
            </a:r>
            <a:br>
              <a:rPr kumimoji="0" lang="pt-BR" altLang="pt-BR" sz="140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endParaRPr kumimoji="0" lang="pt-BR" altLang="pt-BR" sz="140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✓ Investigar a relação entre obsolescência programada e redução da vida útil dos dispositivos</a:t>
            </a:r>
            <a:br>
              <a:rPr kumimoji="0" lang="pt-BR" altLang="pt-BR" sz="140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endParaRPr kumimoji="0" lang="pt-BR" altLang="pt-BR" sz="140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✓ Analisar estratégias de reutilização e reaproveitamento de componentes eletrônicos descartados</a:t>
            </a:r>
            <a:br>
              <a:rPr kumimoji="0" lang="pt-BR" altLang="pt-BR" sz="140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endParaRPr kumimoji="0" lang="pt-BR" altLang="pt-BR" sz="1400" i="0" u="none" strike="noStrike" cap="none" normalizeH="0" baseline="0" dirty="0">
              <a:ln>
                <a:noFill/>
              </a:ln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✓ Discutir o potencial dos </a:t>
            </a:r>
            <a:r>
              <a:rPr kumimoji="0" lang="pt-BR" altLang="pt-BR" sz="1400" i="0" u="none" strike="noStrike" cap="none" normalizeH="0" baseline="0" dirty="0" err="1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cyberdecks</a:t>
            </a:r>
            <a:r>
              <a:rPr kumimoji="0" lang="pt-BR" altLang="pt-BR" sz="140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como alternativa de reaproveitamento e conscientização ambiental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6" y="777875"/>
            <a:ext cx="563829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effectLst/>
                <a:latin typeface="Segoe UI" panose="020B0502040204020203" pitchFamily="34" charset="0"/>
              </a:rPr>
              <a:t>É uma abordagem qualitativa, de natureza teórica, sem procedimentos práticos e baseados em referenciais teóricos. </a:t>
            </a:r>
            <a:endParaRPr lang="pt-BR" sz="18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1" y="2021321"/>
            <a:ext cx="5164716" cy="2504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l" rtl="0">
              <a:buNone/>
            </a:pPr>
            <a:r>
              <a:rPr lang="pt-BR" sz="140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✓ Resíduos eletrônicos e impactos ambientais — Borges, Novaes e </a:t>
            </a:r>
            <a:r>
              <a:rPr lang="pt-BR" sz="1400" i="0" dirty="0" err="1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Bonelli</a:t>
            </a:r>
            <a:r>
              <a:rPr lang="pt-BR" sz="140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(2026)</a:t>
            </a:r>
            <a:br>
              <a:rPr lang="pt-BR" sz="140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pt-BR" sz="1400" i="0" dirty="0">
              <a:solidFill>
                <a:srgbClr val="0D0D0D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 rtl="0">
              <a:buNone/>
            </a:pPr>
            <a:r>
              <a:rPr lang="pt-BR" sz="140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✓ Obsolescência programada e geração de resíduos — </a:t>
            </a:r>
            <a:r>
              <a:rPr lang="pt-BR" sz="1400" i="0" dirty="0" err="1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Osumanu</a:t>
            </a:r>
            <a:r>
              <a:rPr lang="pt-BR" sz="140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et al. (2025)</a:t>
            </a:r>
            <a:br>
              <a:rPr lang="pt-BR" sz="140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pt-BR" sz="1400" i="0" dirty="0">
              <a:solidFill>
                <a:srgbClr val="0D0D0D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 rtl="0">
              <a:buNone/>
            </a:pPr>
            <a:r>
              <a:rPr lang="pt-BR" sz="140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✓ Reaproveitamento e sustentabilidade de componentes eletrônicos — Borges, Novaes e </a:t>
            </a:r>
            <a:r>
              <a:rPr lang="pt-BR" sz="1400" i="0" dirty="0" err="1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Bonelli</a:t>
            </a:r>
            <a:r>
              <a:rPr lang="pt-BR" sz="140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(2026)</a:t>
            </a:r>
            <a:br>
              <a:rPr lang="pt-BR" sz="140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pt-BR" sz="1400" i="0" dirty="0">
              <a:solidFill>
                <a:srgbClr val="0D0D0D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 rtl="0">
              <a:buNone/>
            </a:pPr>
            <a:r>
              <a:rPr lang="pt-BR" sz="140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✓ Transformação de resíduos em novos produtos tecnológicos — İnce (2025)</a:t>
            </a:r>
            <a:br>
              <a:rPr lang="pt-BR" sz="140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pt-BR" sz="1400" i="0" dirty="0">
              <a:solidFill>
                <a:srgbClr val="0D0D0D"/>
              </a:solidFill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l" rtl="0">
              <a:buNone/>
            </a:pPr>
            <a:r>
              <a:rPr lang="pt-BR" sz="140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✓ </a:t>
            </a:r>
            <a:r>
              <a:rPr lang="pt-BR" sz="1400" i="0" dirty="0" err="1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Cyberdecks</a:t>
            </a:r>
            <a:r>
              <a:rPr lang="pt-BR" sz="1400" i="0" dirty="0">
                <a:solidFill>
                  <a:srgbClr val="0D0D0D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 como possibilidade de reaproveitamento — Lacuna identificada na literatura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324044D-72FE-F97E-38B2-E4EE42270D0E}"/>
              </a:ext>
            </a:extLst>
          </p:cNvPr>
          <p:cNvSpPr txBox="1"/>
          <p:nvPr/>
        </p:nvSpPr>
        <p:spPr>
          <a:xfrm>
            <a:off x="506410" y="1831319"/>
            <a:ext cx="620201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✓</a:t>
            </a:r>
            <a:r>
              <a:rPr lang="pt-BR" sz="1400" dirty="0"/>
              <a:t> </a:t>
            </a:r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Tópico: Obsolescência programada</a:t>
            </a:r>
          </a:p>
          <a:p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Temática: Descarte eletrônico e impactos ambientais.</a:t>
            </a:r>
          </a:p>
          <a:p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Pesquisadores: </a:t>
            </a:r>
            <a:r>
              <a:rPr lang="pt-BR" sz="1400" dirty="0" err="1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Osumanu</a:t>
            </a:r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et al. (2025).</a:t>
            </a:r>
          </a:p>
          <a:p>
            <a:endParaRPr lang="pt-BR" sz="1400" dirty="0">
              <a:solidFill>
                <a:srgbClr val="0D0D0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✓</a:t>
            </a:r>
            <a:r>
              <a:rPr lang="pt-BR" sz="1400" dirty="0"/>
              <a:t> </a:t>
            </a:r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Tópico: Reaproveitamento eletrônico</a:t>
            </a:r>
          </a:p>
          <a:p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Temática: Reutilização de componentes e design sustentável.</a:t>
            </a:r>
          </a:p>
          <a:p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Pesquisadores: Borges, Novaes e Bonelli (2026).</a:t>
            </a:r>
          </a:p>
          <a:p>
            <a:endParaRPr lang="pt-BR" sz="1400" dirty="0">
              <a:solidFill>
                <a:srgbClr val="0D0D0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✓</a:t>
            </a:r>
            <a:r>
              <a:rPr lang="pt-BR" sz="1400" dirty="0"/>
              <a:t> </a:t>
            </a:r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Tópico: </a:t>
            </a:r>
            <a:r>
              <a:rPr lang="pt-BR" sz="1400" dirty="0" err="1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Upcycling</a:t>
            </a:r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 economia circular</a:t>
            </a:r>
          </a:p>
          <a:p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Temática: Transformação de resíduos em novos produtos.</a:t>
            </a:r>
          </a:p>
          <a:p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Pesquisadora: </a:t>
            </a:r>
            <a:r>
              <a:rPr lang="pt-BR" sz="1400" dirty="0" err="1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Fatma</a:t>
            </a:r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İnce (2025).</a:t>
            </a:r>
          </a:p>
          <a:p>
            <a:endParaRPr lang="pt-BR" sz="1400" dirty="0">
              <a:solidFill>
                <a:srgbClr val="0D0D0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✓</a:t>
            </a:r>
            <a:r>
              <a:rPr lang="pt-BR" sz="1400" dirty="0"/>
              <a:t> </a:t>
            </a:r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Tópico: </a:t>
            </a:r>
            <a:r>
              <a:rPr lang="pt-BR" sz="1400" dirty="0" err="1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Cyberdecks</a:t>
            </a:r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sustentáveis</a:t>
            </a:r>
          </a:p>
          <a:p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Temática: Criação de dispositivos com peças reaproveitadas.</a:t>
            </a:r>
          </a:p>
          <a:p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Pesquisadores de referência: Borges, Novaes e Bonelli (2026).</a:t>
            </a:r>
          </a:p>
          <a:p>
            <a:endParaRPr lang="pt-BR" sz="1400" dirty="0">
              <a:solidFill>
                <a:srgbClr val="0D0D0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✓</a:t>
            </a:r>
            <a:r>
              <a:rPr lang="pt-BR" sz="1400" dirty="0"/>
              <a:t> </a:t>
            </a:r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Tópico: Impacto socioambiental</a:t>
            </a:r>
          </a:p>
          <a:p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Temática: Redução do lixo eletrônico e prolongamento da vida útil dos componentes.</a:t>
            </a:r>
          </a:p>
          <a:p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Pesquisadores: </a:t>
            </a:r>
            <a:r>
              <a:rPr lang="pt-BR" sz="1400" dirty="0" err="1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Osumanu</a:t>
            </a:r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et al. (2025) e İnce (2025).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FFA410E-86A0-0324-A070-CBA526A52FBF}"/>
              </a:ext>
            </a:extLst>
          </p:cNvPr>
          <p:cNvSpPr txBox="1"/>
          <p:nvPr/>
        </p:nvSpPr>
        <p:spPr>
          <a:xfrm>
            <a:off x="5508625" y="2099825"/>
            <a:ext cx="5596697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✓</a:t>
            </a:r>
            <a:r>
              <a:rPr lang="pt-BR" sz="1400" dirty="0"/>
              <a:t> </a:t>
            </a:r>
            <a:r>
              <a:rPr lang="pt-BR" sz="1400" b="1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Relevância da pesquisa: </a:t>
            </a:r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Incentivo ao reaproveitamento de resíduos eletrônicos e à redução dos impactos ambientais.</a:t>
            </a:r>
          </a:p>
          <a:p>
            <a:endParaRPr lang="pt-BR" sz="1400" dirty="0">
              <a:solidFill>
                <a:srgbClr val="0D0D0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✓</a:t>
            </a:r>
            <a:r>
              <a:rPr lang="pt-BR" sz="1400" dirty="0"/>
              <a:t> </a:t>
            </a:r>
            <a:r>
              <a:rPr lang="pt-BR" sz="1400" b="1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Contribuição sustentável: </a:t>
            </a:r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Prolongamento da vida útil de componentes eletrônicos por meio da criação de </a:t>
            </a:r>
            <a:r>
              <a:rPr lang="pt-BR" sz="1400" dirty="0" err="1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cyberdecks</a:t>
            </a:r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endParaRPr lang="pt-BR" sz="1400" dirty="0">
              <a:solidFill>
                <a:srgbClr val="0D0D0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✓</a:t>
            </a:r>
            <a:r>
              <a:rPr lang="pt-BR" sz="1400" dirty="0"/>
              <a:t> </a:t>
            </a:r>
            <a:r>
              <a:rPr lang="pt-BR" sz="1400" b="1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Estudos futuros: </a:t>
            </a:r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Investigar materiais, componentes e técnicas para a construção de </a:t>
            </a:r>
            <a:r>
              <a:rPr lang="pt-BR" sz="1400" dirty="0" err="1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cyberdecks</a:t>
            </a:r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sustentáveis.</a:t>
            </a:r>
          </a:p>
          <a:p>
            <a:endParaRPr lang="pt-BR" sz="1400" dirty="0">
              <a:solidFill>
                <a:srgbClr val="0D0D0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✓</a:t>
            </a:r>
            <a:r>
              <a:rPr lang="pt-BR" sz="1400" dirty="0"/>
              <a:t> </a:t>
            </a:r>
            <a:r>
              <a:rPr lang="pt-BR" sz="1400" b="1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Estudos práticos: </a:t>
            </a:r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Desenvolver um protótipo funcional de </a:t>
            </a:r>
            <a:r>
              <a:rPr lang="pt-BR" sz="1400" dirty="0" err="1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cyberdeck</a:t>
            </a:r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utilizando peças eletrônicas reaproveitadas.</a:t>
            </a:r>
          </a:p>
          <a:p>
            <a:endParaRPr lang="pt-BR" sz="1400" b="1" dirty="0">
              <a:solidFill>
                <a:srgbClr val="0D0D0D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✓</a:t>
            </a:r>
            <a:r>
              <a:rPr lang="pt-BR" sz="1400" dirty="0"/>
              <a:t> </a:t>
            </a:r>
            <a:r>
              <a:rPr lang="pt-BR" sz="1400" b="1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Desenvolvimento do sistema: </a:t>
            </a:r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Avaliar o funcionamento, o custo, a viabilidade técnica e os benefícios ambientais do protótipo.</a:t>
            </a: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706" y="2037556"/>
            <a:ext cx="577708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dirty="0"/>
              <a:t> BORGES, L.; NOVAES, L.; BONELLI, J. Design sustentável e ressignificação do lixo eletrônico. 2026. Disponível em: </a:t>
            </a:r>
            <a:r>
              <a:rPr lang="pt-BR" sz="1400" dirty="0">
                <a:hlinkClick r:id="rId3"/>
              </a:rPr>
              <a:t>https://proceedings.blucher.com.br/</a:t>
            </a:r>
            <a:r>
              <a:rPr lang="pt-BR" sz="1400" dirty="0" err="1">
                <a:hlinkClick r:id="rId3"/>
              </a:rPr>
              <a:t>article-details</a:t>
            </a:r>
            <a:r>
              <a:rPr lang="pt-BR" sz="1400" dirty="0">
                <a:hlinkClick r:id="rId3"/>
              </a:rPr>
              <a:t>/design-sustentavel-e-ressignificacao-do-lixo-eletronico-praticas-de-reciclagem-e-reuso-no-contexto-academico</a:t>
            </a:r>
            <a:r>
              <a:rPr lang="pt-BR" sz="1400" dirty="0"/>
              <a:t>.</a:t>
            </a:r>
          </a:p>
          <a:p>
            <a:pPr>
              <a:buNone/>
            </a:pPr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dirty="0"/>
              <a:t> İNCE, F. </a:t>
            </a:r>
            <a:r>
              <a:rPr lang="pt-BR" sz="1400" dirty="0" err="1"/>
              <a:t>From</a:t>
            </a:r>
            <a:r>
              <a:rPr lang="pt-BR" sz="1400" dirty="0"/>
              <a:t> </a:t>
            </a:r>
            <a:r>
              <a:rPr lang="pt-BR" sz="1400" dirty="0" err="1"/>
              <a:t>waste</a:t>
            </a:r>
            <a:r>
              <a:rPr lang="pt-BR" sz="1400" dirty="0"/>
              <a:t> </a:t>
            </a:r>
            <a:r>
              <a:rPr lang="pt-BR" sz="1400" dirty="0" err="1"/>
              <a:t>to</a:t>
            </a:r>
            <a:r>
              <a:rPr lang="pt-BR" sz="1400" dirty="0"/>
              <a:t> </a:t>
            </a:r>
            <a:r>
              <a:rPr lang="pt-BR" sz="1400" dirty="0" err="1"/>
              <a:t>wealth</a:t>
            </a:r>
            <a:r>
              <a:rPr lang="pt-BR" sz="1400" dirty="0"/>
              <a:t>: </a:t>
            </a:r>
            <a:r>
              <a:rPr lang="pt-BR" sz="1400" dirty="0" err="1"/>
              <a:t>leveraging</a:t>
            </a:r>
            <a:r>
              <a:rPr lang="pt-BR" sz="1400" dirty="0"/>
              <a:t> </a:t>
            </a:r>
            <a:r>
              <a:rPr lang="pt-BR" sz="1400" dirty="0" err="1"/>
              <a:t>upcycling</a:t>
            </a:r>
            <a:r>
              <a:rPr lang="pt-BR" sz="1400" dirty="0"/>
              <a:t> </a:t>
            </a:r>
            <a:r>
              <a:rPr lang="pt-BR" sz="1400" dirty="0" err="1"/>
              <a:t>to</a:t>
            </a:r>
            <a:r>
              <a:rPr lang="pt-BR" sz="1400" dirty="0"/>
              <a:t> drive </a:t>
            </a:r>
            <a:r>
              <a:rPr lang="pt-BR" sz="1400" dirty="0" err="1"/>
              <a:t>sustainable</a:t>
            </a:r>
            <a:r>
              <a:rPr lang="pt-BR" sz="1400" dirty="0"/>
              <a:t> e-</a:t>
            </a:r>
            <a:r>
              <a:rPr lang="pt-BR" sz="1400" dirty="0" err="1"/>
              <a:t>waste</a:t>
            </a:r>
            <a:r>
              <a:rPr lang="pt-BR" sz="1400" dirty="0"/>
              <a:t> management. </a:t>
            </a:r>
            <a:r>
              <a:rPr lang="pt-BR" sz="1400" i="1" dirty="0" err="1"/>
              <a:t>Problemy</a:t>
            </a:r>
            <a:r>
              <a:rPr lang="pt-BR" sz="1400" i="1" dirty="0"/>
              <a:t> </a:t>
            </a:r>
            <a:r>
              <a:rPr lang="pt-BR" sz="1400" i="1" dirty="0" err="1"/>
              <a:t>Ekorozwoju</a:t>
            </a:r>
            <a:r>
              <a:rPr lang="pt-BR" sz="1400" dirty="0"/>
              <a:t>, 2025. Disponível em: </a:t>
            </a:r>
            <a:r>
              <a:rPr lang="pt-BR" sz="1400" dirty="0">
                <a:hlinkClick r:id="rId4"/>
              </a:rPr>
              <a:t>https://ph.pollub.pl/</a:t>
            </a:r>
            <a:r>
              <a:rPr lang="pt-BR" sz="1400" dirty="0" err="1">
                <a:hlinkClick r:id="rId4"/>
              </a:rPr>
              <a:t>index.php</a:t>
            </a:r>
            <a:r>
              <a:rPr lang="pt-BR" sz="1400" dirty="0">
                <a:hlinkClick r:id="rId4"/>
              </a:rPr>
              <a:t>/</a:t>
            </a:r>
            <a:r>
              <a:rPr lang="pt-BR" sz="1400" dirty="0" err="1">
                <a:hlinkClick r:id="rId4"/>
              </a:rPr>
              <a:t>preko</a:t>
            </a:r>
            <a:r>
              <a:rPr lang="pt-BR" sz="1400" dirty="0">
                <a:hlinkClick r:id="rId4"/>
              </a:rPr>
              <a:t>/</a:t>
            </a:r>
            <a:r>
              <a:rPr lang="pt-BR" sz="1400" dirty="0" err="1">
                <a:hlinkClick r:id="rId4"/>
              </a:rPr>
              <a:t>en</a:t>
            </a:r>
            <a:r>
              <a:rPr lang="pt-BR" sz="1400" dirty="0">
                <a:hlinkClick r:id="rId4"/>
              </a:rPr>
              <a:t>/</a:t>
            </a:r>
            <a:r>
              <a:rPr lang="pt-BR" sz="1400" dirty="0" err="1">
                <a:hlinkClick r:id="rId4"/>
              </a:rPr>
              <a:t>article</a:t>
            </a:r>
            <a:r>
              <a:rPr lang="pt-BR" sz="1400" dirty="0">
                <a:hlinkClick r:id="rId4"/>
              </a:rPr>
              <a:t>/</a:t>
            </a:r>
            <a:r>
              <a:rPr lang="pt-BR" sz="1400" dirty="0" err="1">
                <a:hlinkClick r:id="rId4"/>
              </a:rPr>
              <a:t>view</a:t>
            </a:r>
            <a:r>
              <a:rPr lang="pt-BR" sz="1400" dirty="0">
                <a:hlinkClick r:id="rId4"/>
              </a:rPr>
              <a:t>/6976</a:t>
            </a:r>
            <a:r>
              <a:rPr lang="pt-BR" sz="1400" dirty="0"/>
              <a:t>.</a:t>
            </a:r>
          </a:p>
          <a:p>
            <a:pPr>
              <a:buNone/>
            </a:pPr>
            <a:r>
              <a:rPr lang="pt-BR" sz="1400" dirty="0">
                <a:solidFill>
                  <a:srgbClr val="0D0D0D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pt-BR" sz="1400" dirty="0"/>
              <a:t> OSUMANU, F. et al. </a:t>
            </a:r>
            <a:r>
              <a:rPr lang="pt-BR" sz="1400" dirty="0" err="1"/>
              <a:t>Combating</a:t>
            </a:r>
            <a:r>
              <a:rPr lang="pt-BR" sz="1400" dirty="0"/>
              <a:t> </a:t>
            </a:r>
            <a:r>
              <a:rPr lang="pt-BR" sz="1400" dirty="0" err="1"/>
              <a:t>planned</a:t>
            </a:r>
            <a:r>
              <a:rPr lang="pt-BR" sz="1400" dirty="0"/>
              <a:t> </a:t>
            </a:r>
            <a:r>
              <a:rPr lang="pt-BR" sz="1400" dirty="0" err="1"/>
              <a:t>obsolescence</a:t>
            </a:r>
            <a:r>
              <a:rPr lang="pt-BR" sz="1400" dirty="0"/>
              <a:t> </a:t>
            </a:r>
            <a:r>
              <a:rPr lang="pt-BR" sz="1400" dirty="0" err="1"/>
              <a:t>and</a:t>
            </a:r>
            <a:r>
              <a:rPr lang="pt-BR" sz="1400" dirty="0"/>
              <a:t> e-</a:t>
            </a:r>
            <a:r>
              <a:rPr lang="pt-BR" sz="1400" dirty="0" err="1"/>
              <a:t>waste</a:t>
            </a:r>
            <a:r>
              <a:rPr lang="pt-BR" sz="1400" dirty="0"/>
              <a:t> </a:t>
            </a:r>
            <a:r>
              <a:rPr lang="pt-BR" sz="1400" dirty="0" err="1"/>
              <a:t>through</a:t>
            </a:r>
            <a:r>
              <a:rPr lang="pt-BR" sz="1400" dirty="0"/>
              <a:t> </a:t>
            </a:r>
            <a:r>
              <a:rPr lang="pt-BR" sz="1400" dirty="0" err="1"/>
              <a:t>sustainable</a:t>
            </a:r>
            <a:r>
              <a:rPr lang="pt-BR" sz="1400" dirty="0"/>
              <a:t> </a:t>
            </a:r>
            <a:r>
              <a:rPr lang="pt-BR" sz="1400" dirty="0" err="1"/>
              <a:t>engineering</a:t>
            </a:r>
            <a:r>
              <a:rPr lang="pt-BR" sz="1400" dirty="0"/>
              <a:t> </a:t>
            </a:r>
            <a:r>
              <a:rPr lang="pt-BR" sz="1400" dirty="0" err="1"/>
              <a:t>practices</a:t>
            </a:r>
            <a:r>
              <a:rPr lang="pt-BR" sz="1400" dirty="0"/>
              <a:t> in </a:t>
            </a:r>
            <a:r>
              <a:rPr lang="pt-BR" sz="1400" dirty="0" err="1"/>
              <a:t>developing</a:t>
            </a:r>
            <a:r>
              <a:rPr lang="pt-BR" sz="1400" dirty="0"/>
              <a:t> </a:t>
            </a:r>
            <a:r>
              <a:rPr lang="pt-BR" sz="1400" dirty="0" err="1"/>
              <a:t>economies</a:t>
            </a:r>
            <a:r>
              <a:rPr lang="pt-BR" sz="1400" dirty="0"/>
              <a:t>. 2025. Disponível em: </a:t>
            </a:r>
            <a:r>
              <a:rPr lang="pt-BR" sz="1400" dirty="0">
                <a:hlinkClick r:id="rId5"/>
              </a:rPr>
              <a:t>https://www.atlantis-press.com/</a:t>
            </a:r>
            <a:r>
              <a:rPr lang="pt-BR" sz="1400" dirty="0" err="1">
                <a:hlinkClick r:id="rId5"/>
              </a:rPr>
              <a:t>proceedings</a:t>
            </a:r>
            <a:r>
              <a:rPr lang="pt-BR" sz="1400" dirty="0">
                <a:hlinkClick r:id="rId5"/>
              </a:rPr>
              <a:t>/icesus-25/126020681</a:t>
            </a:r>
            <a:r>
              <a:rPr lang="pt-BR" sz="1400" dirty="0"/>
              <a:t>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956" y="2767280"/>
            <a:ext cx="9713844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pt-BR" sz="2000" i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Agradecemos aos pesquisadores cujos estudos contribuíram para o embasamento teórico desta pesquisa e para a reflexão sobre a sustentabilidade e o reaproveitamento de resíduos eletrônicos.</a:t>
            </a:r>
          </a:p>
          <a:p>
            <a:pPr algn="ctr" eaLnBrk="1" hangingPunct="1"/>
            <a:endParaRPr lang="pt-BR" altLang="pt-BR" sz="2000" i="1" dirty="0">
              <a:solidFill>
                <a:schemeClr val="bg1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2263</TotalTime>
  <Words>676</Words>
  <Application>Microsoft Office PowerPoint</Application>
  <PresentationFormat>Widescreen</PresentationFormat>
  <Paragraphs>66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9" baseType="lpstr">
      <vt:lpstr>-apple-system-body</vt:lpstr>
      <vt:lpstr>Arial</vt:lpstr>
      <vt:lpstr>Calibri</vt:lpstr>
      <vt:lpstr>Calibri Light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Julia Alves</cp:lastModifiedBy>
  <cp:revision>27</cp:revision>
  <dcterms:created xsi:type="dcterms:W3CDTF">2021-05-14T17:32:15Z</dcterms:created>
  <dcterms:modified xsi:type="dcterms:W3CDTF">2026-10-11T16:59:43Z</dcterms:modified>
</cp:coreProperties>
</file>